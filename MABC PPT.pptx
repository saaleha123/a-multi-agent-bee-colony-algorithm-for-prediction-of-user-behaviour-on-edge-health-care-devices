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56" r:id="rId2"/>
    <p:sldId id="259" r:id="rId3"/>
    <p:sldId id="327" r:id="rId4"/>
    <p:sldId id="333" r:id="rId5"/>
    <p:sldId id="328" r:id="rId6"/>
    <p:sldId id="329" r:id="rId7"/>
    <p:sldId id="335" r:id="rId8"/>
    <p:sldId id="334" r:id="rId9"/>
    <p:sldId id="330" r:id="rId10"/>
    <p:sldId id="345" r:id="rId11"/>
    <p:sldId id="347" r:id="rId12"/>
    <p:sldId id="350" r:id="rId13"/>
    <p:sldId id="349" r:id="rId14"/>
    <p:sldId id="351" r:id="rId15"/>
    <p:sldId id="352" r:id="rId16"/>
    <p:sldId id="326"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B053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67" d="100"/>
          <a:sy n="67" d="100"/>
        </p:scale>
        <p:origin x="-149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4339" name="Notes Placeholder 2">
            <a:extLst>
              <a:ext uri="{FF2B5EF4-FFF2-40B4-BE49-F238E27FC236}">
                <a16:creationId xmlns="" xmlns:a16="http://schemas.microsoft.com/office/drawing/2014/main" id="{63985331-A8BE-46A9-BEEC-B969CF2C8CE8}"/>
              </a:ext>
            </a:extLst>
          </p:cNvPr>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 xmlns:p14="http://schemas.microsoft.com/office/powerpoint/2010/main" val="355553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a:defRPr/>
            </a:pPr>
            <a:fld id="{2685013B-3371-48FC-9407-F92BD42A5CA9}" type="datetime1">
              <a:rPr lang="en-US" smtClean="0"/>
              <a:pPr>
                <a:defRPr/>
              </a:pPr>
              <a:t>4/1/2026</a:t>
            </a:fld>
            <a:endParaRPr lang="en-US"/>
          </a:p>
        </p:txBody>
      </p:sp>
      <p:sp>
        <p:nvSpPr>
          <p:cNvPr id="19" name="Footer Placeholder 18"/>
          <p:cNvSpPr>
            <a:spLocks noGrp="1"/>
          </p:cNvSpPr>
          <p:nvPr>
            <p:ph type="ftr" sz="quarter" idx="11"/>
          </p:nvPr>
        </p:nvSpPr>
        <p:spPr/>
        <p:txBody>
          <a:bodyPr/>
          <a:lstStyle/>
          <a:p>
            <a:pPr>
              <a:defRPr/>
            </a:pPr>
            <a:r>
              <a:rPr lang="en-US" smtClean="0"/>
              <a:t>DEPARTMENT OF CSE MINI PROJECT REVIEW-1</a:t>
            </a:r>
            <a:endParaRPr lang="en-US"/>
          </a:p>
        </p:txBody>
      </p:sp>
      <p:sp>
        <p:nvSpPr>
          <p:cNvPr id="27" name="Slide Number Placeholder 26"/>
          <p:cNvSpPr>
            <a:spLocks noGrp="1"/>
          </p:cNvSpPr>
          <p:nvPr>
            <p:ph type="sldNum" sz="quarter" idx="12"/>
          </p:nvPr>
        </p:nvSpPr>
        <p:spPr/>
        <p:txBody>
          <a:bodyPr/>
          <a:lstStyle/>
          <a:p>
            <a:fld id="{381673AE-CDED-468E-9E60-13F9774D8EF6}" type="slidenum">
              <a:rPr lang="en-US" altLang="en-US" smtClean="0"/>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BDE8CA06-C0FA-4A35-B9BF-5CBFE5CB9336}" type="datetime1">
              <a:rPr lang="en-US" smtClean="0"/>
              <a:pPr>
                <a:defRPr/>
              </a:pPr>
              <a:t>4/1/2026</a:t>
            </a:fld>
            <a:endParaRPr lang="en-US"/>
          </a:p>
        </p:txBody>
      </p:sp>
      <p:sp>
        <p:nvSpPr>
          <p:cNvPr id="5" name="Footer Placeholder 4"/>
          <p:cNvSpPr>
            <a:spLocks noGrp="1"/>
          </p:cNvSpPr>
          <p:nvPr>
            <p:ph type="ftr" sz="quarter" idx="11"/>
          </p:nvPr>
        </p:nvSpPr>
        <p:spPr/>
        <p:txBody>
          <a:bodyPr/>
          <a:lstStyle/>
          <a:p>
            <a:pPr>
              <a:defRPr/>
            </a:pPr>
            <a:r>
              <a:rPr lang="en-US" smtClean="0"/>
              <a:t>DEPARTMENT OF CSE MINI PROJECT REVIEW-1</a:t>
            </a:r>
            <a:endParaRPr lang="en-US"/>
          </a:p>
        </p:txBody>
      </p:sp>
      <p:sp>
        <p:nvSpPr>
          <p:cNvPr id="6" name="Slide Number Placeholder 5"/>
          <p:cNvSpPr>
            <a:spLocks noGrp="1"/>
          </p:cNvSpPr>
          <p:nvPr>
            <p:ph type="sldNum" sz="quarter" idx="12"/>
          </p:nvPr>
        </p:nvSpPr>
        <p:spPr/>
        <p:txBody>
          <a:bodyPr/>
          <a:lstStyle/>
          <a:p>
            <a:fld id="{E021BEF2-95F5-417E-9097-980329164CCD}" type="slidenum">
              <a:rPr lang="en-US" altLang="en-US" smtClean="0"/>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fld id="{EDBE9779-8E71-4A34-ACDD-8BB13DEE2332}" type="datetime1">
              <a:rPr lang="en-US" smtClean="0"/>
              <a:pPr>
                <a:defRPr/>
              </a:pPr>
              <a:t>4/1/2026</a:t>
            </a:fld>
            <a:endParaRPr lang="en-US"/>
          </a:p>
        </p:txBody>
      </p:sp>
      <p:sp>
        <p:nvSpPr>
          <p:cNvPr id="5" name="Footer Placeholder 4"/>
          <p:cNvSpPr>
            <a:spLocks noGrp="1"/>
          </p:cNvSpPr>
          <p:nvPr>
            <p:ph type="ftr" sz="quarter" idx="11"/>
          </p:nvPr>
        </p:nvSpPr>
        <p:spPr/>
        <p:txBody>
          <a:bodyPr/>
          <a:lstStyle/>
          <a:p>
            <a:pPr>
              <a:defRPr/>
            </a:pPr>
            <a:r>
              <a:rPr lang="en-US" smtClean="0"/>
              <a:t>DEPARTMENT OF CSE MINI PROJECT REVIEW-1</a:t>
            </a:r>
            <a:endParaRPr lang="en-US"/>
          </a:p>
        </p:txBody>
      </p:sp>
      <p:sp>
        <p:nvSpPr>
          <p:cNvPr id="6" name="Slide Number Placeholder 5"/>
          <p:cNvSpPr>
            <a:spLocks noGrp="1"/>
          </p:cNvSpPr>
          <p:nvPr>
            <p:ph type="sldNum" sz="quarter" idx="12"/>
          </p:nvPr>
        </p:nvSpPr>
        <p:spPr/>
        <p:txBody>
          <a:bodyPr/>
          <a:lstStyle/>
          <a:p>
            <a:fld id="{B887B5C6-F485-457A-88E2-FF928EC41EA4}" type="slidenum">
              <a:rPr lang="en-US" altLang="en-US" smtClean="0"/>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C4B0931-B853-4338-857D-EC51455FBAEA}" type="datetime1">
              <a:rPr lang="en-US" smtClean="0"/>
              <a:pPr>
                <a:defRPr/>
              </a:pPr>
              <a:t>4/1/2026</a:t>
            </a:fld>
            <a:endParaRPr lang="en-US"/>
          </a:p>
        </p:txBody>
      </p:sp>
      <p:sp>
        <p:nvSpPr>
          <p:cNvPr id="6" name="Footer Placeholder 5"/>
          <p:cNvSpPr>
            <a:spLocks noGrp="1"/>
          </p:cNvSpPr>
          <p:nvPr>
            <p:ph type="ftr" sz="quarter" idx="11"/>
          </p:nvPr>
        </p:nvSpPr>
        <p:spPr/>
        <p:txBody>
          <a:bodyPr/>
          <a:lstStyle/>
          <a:p>
            <a:pPr>
              <a:defRPr/>
            </a:pPr>
            <a:r>
              <a:rPr lang="en-US" smtClean="0"/>
              <a:t>DEPARTMENT OF CSE MINI PROJECT REVIEW-1</a:t>
            </a:r>
            <a:endParaRPr lang="en-US"/>
          </a:p>
        </p:txBody>
      </p:sp>
      <p:sp>
        <p:nvSpPr>
          <p:cNvPr id="7" name="Slide Number Placeholder 6"/>
          <p:cNvSpPr>
            <a:spLocks noGrp="1"/>
          </p:cNvSpPr>
          <p:nvPr>
            <p:ph type="sldNum" sz="quarter" idx="12"/>
          </p:nvPr>
        </p:nvSpPr>
        <p:spPr/>
        <p:txBody>
          <a:bodyPr/>
          <a:lstStyle/>
          <a:p>
            <a:fld id="{6430785C-3C3F-4D72-B6E5-E6D38F555861}" type="slidenum">
              <a:rPr lang="en-US" altLang="en-US" smtClean="0"/>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D9F35988-ABC1-47B4-8337-180F809C6E04}" type="datetime1">
              <a:rPr lang="en-US" smtClean="0"/>
              <a:pPr>
                <a:defRPr/>
              </a:pPr>
              <a:t>4/1/2026</a:t>
            </a:fld>
            <a:endParaRPr lang="en-US"/>
          </a:p>
        </p:txBody>
      </p:sp>
      <p:sp>
        <p:nvSpPr>
          <p:cNvPr id="8" name="Footer Placeholder 7"/>
          <p:cNvSpPr>
            <a:spLocks noGrp="1"/>
          </p:cNvSpPr>
          <p:nvPr>
            <p:ph type="ftr" sz="quarter" idx="11"/>
          </p:nvPr>
        </p:nvSpPr>
        <p:spPr/>
        <p:txBody>
          <a:bodyPr/>
          <a:lstStyle/>
          <a:p>
            <a:pPr>
              <a:defRPr/>
            </a:pPr>
            <a:r>
              <a:rPr lang="en-US" smtClean="0"/>
              <a:t>DEPARTMENT OF CSE MINI PROJECT REVIEW-1</a:t>
            </a:r>
            <a:endParaRPr lang="en-US"/>
          </a:p>
        </p:txBody>
      </p:sp>
      <p:sp>
        <p:nvSpPr>
          <p:cNvPr id="9" name="Slide Number Placeholder 8"/>
          <p:cNvSpPr>
            <a:spLocks noGrp="1"/>
          </p:cNvSpPr>
          <p:nvPr>
            <p:ph type="sldNum" sz="quarter" idx="12"/>
          </p:nvPr>
        </p:nvSpPr>
        <p:spPr/>
        <p:txBody>
          <a:bodyPr/>
          <a:lstStyle/>
          <a:p>
            <a:fld id="{B998D808-031B-4F6F-A439-4ABFE2BF389D}" type="slidenum">
              <a:rPr lang="en-US" altLang="en-US" smtClean="0"/>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7DDF58F0-0B71-4C0D-BBA6-85074C846FE6}" type="datetime1">
              <a:rPr lang="en-US" smtClean="0"/>
              <a:pPr>
                <a:defRPr/>
              </a:pPr>
              <a:t>4/1/2026</a:t>
            </a:fld>
            <a:endParaRPr lang="en-US"/>
          </a:p>
        </p:txBody>
      </p:sp>
      <p:sp>
        <p:nvSpPr>
          <p:cNvPr id="4" name="Footer Placeholder 3"/>
          <p:cNvSpPr>
            <a:spLocks noGrp="1"/>
          </p:cNvSpPr>
          <p:nvPr>
            <p:ph type="ftr" sz="quarter" idx="11"/>
          </p:nvPr>
        </p:nvSpPr>
        <p:spPr/>
        <p:txBody>
          <a:bodyPr/>
          <a:lstStyle/>
          <a:p>
            <a:pPr>
              <a:defRPr/>
            </a:pPr>
            <a:r>
              <a:rPr lang="en-US" smtClean="0"/>
              <a:t>DEPARTMENT OF CSE MINI PROJECT REVIEW-1</a:t>
            </a:r>
            <a:endParaRPr lang="en-US"/>
          </a:p>
        </p:txBody>
      </p:sp>
      <p:sp>
        <p:nvSpPr>
          <p:cNvPr id="5" name="Slide Number Placeholder 4"/>
          <p:cNvSpPr>
            <a:spLocks noGrp="1"/>
          </p:cNvSpPr>
          <p:nvPr>
            <p:ph type="sldNum" sz="quarter" idx="12"/>
          </p:nvPr>
        </p:nvSpPr>
        <p:spPr/>
        <p:txBody>
          <a:bodyPr/>
          <a:lstStyle/>
          <a:p>
            <a:fld id="{81B35500-9D2C-47A3-BF87-3935A794A65A}" type="slidenum">
              <a:rPr lang="en-US" altLang="en-US" smtClean="0"/>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433D11A-F1DE-4A50-95C9-D10180535CA0}" type="datetime1">
              <a:rPr lang="en-US" smtClean="0"/>
              <a:pPr>
                <a:defRPr/>
              </a:pPr>
              <a:t>4/1/2026</a:t>
            </a:fld>
            <a:endParaRPr lang="en-US"/>
          </a:p>
        </p:txBody>
      </p:sp>
      <p:sp>
        <p:nvSpPr>
          <p:cNvPr id="3" name="Footer Placeholder 2"/>
          <p:cNvSpPr>
            <a:spLocks noGrp="1"/>
          </p:cNvSpPr>
          <p:nvPr>
            <p:ph type="ftr" sz="quarter" idx="11"/>
          </p:nvPr>
        </p:nvSpPr>
        <p:spPr/>
        <p:txBody>
          <a:bodyPr/>
          <a:lstStyle/>
          <a:p>
            <a:pPr>
              <a:defRPr/>
            </a:pPr>
            <a:r>
              <a:rPr lang="en-US" smtClean="0"/>
              <a:t>DEPARTMENT OF CSE MINI PROJECT REVIEW-1</a:t>
            </a:r>
            <a:endParaRPr lang="en-US"/>
          </a:p>
        </p:txBody>
      </p:sp>
      <p:sp>
        <p:nvSpPr>
          <p:cNvPr id="4" name="Slide Number Placeholder 3"/>
          <p:cNvSpPr>
            <a:spLocks noGrp="1"/>
          </p:cNvSpPr>
          <p:nvPr>
            <p:ph type="sldNum" sz="quarter" idx="12"/>
          </p:nvPr>
        </p:nvSpPr>
        <p:spPr/>
        <p:txBody>
          <a:bodyPr/>
          <a:lstStyle/>
          <a:p>
            <a:fld id="{D1610838-7400-411B-B689-2F6C35481D0C}" type="slidenum">
              <a:rPr lang="en-US" altLang="en-US" smtClean="0"/>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76D890D1-ADAD-4367-ADA2-AFAFF9F81D11}" type="datetime1">
              <a:rPr lang="en-US" smtClean="0"/>
              <a:pPr>
                <a:defRPr/>
              </a:pPr>
              <a:t>4/1/2026</a:t>
            </a:fld>
            <a:endParaRPr lang="en-US"/>
          </a:p>
        </p:txBody>
      </p:sp>
      <p:sp>
        <p:nvSpPr>
          <p:cNvPr id="6" name="Footer Placeholder 5"/>
          <p:cNvSpPr>
            <a:spLocks noGrp="1"/>
          </p:cNvSpPr>
          <p:nvPr>
            <p:ph type="ftr" sz="quarter" idx="11"/>
          </p:nvPr>
        </p:nvSpPr>
        <p:spPr/>
        <p:txBody>
          <a:bodyPr/>
          <a:lstStyle/>
          <a:p>
            <a:pPr>
              <a:defRPr/>
            </a:pPr>
            <a:r>
              <a:rPr lang="en-US" smtClean="0"/>
              <a:t>DEPARTMENT OF CSE MINI PROJECT REVIEW-1</a:t>
            </a:r>
            <a:endParaRPr lang="en-US"/>
          </a:p>
        </p:txBody>
      </p:sp>
      <p:sp>
        <p:nvSpPr>
          <p:cNvPr id="7" name="Slide Number Placeholder 6"/>
          <p:cNvSpPr>
            <a:spLocks noGrp="1"/>
          </p:cNvSpPr>
          <p:nvPr>
            <p:ph type="sldNum" sz="quarter" idx="12"/>
          </p:nvPr>
        </p:nvSpPr>
        <p:spPr/>
        <p:txBody>
          <a:bodyPr/>
          <a:lstStyle/>
          <a:p>
            <a:fld id="{5FEEDBB8-2F2A-4E69-B4E6-C45A1A219323}" type="slidenum">
              <a:rPr lang="en-US" altLang="en-US" smtClean="0"/>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393651B4-9843-45AB-8E22-71543FB46DA2}" type="datetime1">
              <a:rPr lang="en-US" smtClean="0"/>
              <a:pPr>
                <a:defRPr/>
              </a:pPr>
              <a:t>4/1/2026</a:t>
            </a:fld>
            <a:endParaRPr lang="en-US"/>
          </a:p>
        </p:txBody>
      </p:sp>
      <p:sp>
        <p:nvSpPr>
          <p:cNvPr id="6" name="Footer Placeholder 5"/>
          <p:cNvSpPr>
            <a:spLocks noGrp="1"/>
          </p:cNvSpPr>
          <p:nvPr>
            <p:ph type="ftr" sz="quarter" idx="11"/>
          </p:nvPr>
        </p:nvSpPr>
        <p:spPr/>
        <p:txBody>
          <a:bodyPr/>
          <a:lstStyle/>
          <a:p>
            <a:pPr>
              <a:defRPr/>
            </a:pPr>
            <a:r>
              <a:rPr lang="en-US" smtClean="0"/>
              <a:t>DEPARTMENT OF CSE MINI PROJECT REVIEW-1</a:t>
            </a:r>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6600780-8261-4F2C-8AB1-4FC7C46475CB}" type="slidenum">
              <a:rPr lang="en-US" altLang="en-US" smtClean="0"/>
              <a:pPr/>
              <a:t>‹#›</a:t>
            </a:fld>
            <a:endParaRPr lang="en-US" alt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4394FE15-DD9A-40C6-9AF8-2CF0E2DC9FED}" type="datetime1">
              <a:rPr lang="en-US" smtClean="0"/>
              <a:pPr>
                <a:defRPr/>
              </a:pPr>
              <a:t>4/1/2026</a:t>
            </a:fld>
            <a:endParaRPr lang="en-US"/>
          </a:p>
        </p:txBody>
      </p:sp>
      <p:sp>
        <p:nvSpPr>
          <p:cNvPr id="5" name="Footer Placeholder 4"/>
          <p:cNvSpPr>
            <a:spLocks noGrp="1"/>
          </p:cNvSpPr>
          <p:nvPr>
            <p:ph type="ftr" sz="quarter" idx="11"/>
          </p:nvPr>
        </p:nvSpPr>
        <p:spPr/>
        <p:txBody>
          <a:bodyPr/>
          <a:lstStyle/>
          <a:p>
            <a:pPr>
              <a:defRPr/>
            </a:pPr>
            <a:r>
              <a:rPr lang="en-US" smtClean="0"/>
              <a:t>DEPARTMENT OF CSE MINI PROJECT REVIEW-1</a:t>
            </a:r>
            <a:endParaRPr lang="en-US"/>
          </a:p>
        </p:txBody>
      </p:sp>
      <p:sp>
        <p:nvSpPr>
          <p:cNvPr id="6" name="Slide Number Placeholder 5"/>
          <p:cNvSpPr>
            <a:spLocks noGrp="1"/>
          </p:cNvSpPr>
          <p:nvPr>
            <p:ph type="sldNum" sz="quarter" idx="12"/>
          </p:nvPr>
        </p:nvSpPr>
        <p:spPr/>
        <p:txBody>
          <a:bodyPr/>
          <a:lstStyle/>
          <a:p>
            <a:fld id="{2A26A04B-D0EF-4595-87CA-07FE647A1A75}" type="slidenum">
              <a:rPr lang="en-US" altLang="en-US" smtClean="0"/>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370FD5AE-DF06-40E8-B10A-A7E8871D9706}" type="datetime1">
              <a:rPr lang="en-US" smtClean="0"/>
              <a:pPr>
                <a:defRPr/>
              </a:pPr>
              <a:t>4/1/2026</a:t>
            </a:fld>
            <a:endParaRPr lang="en-US"/>
          </a:p>
        </p:txBody>
      </p:sp>
      <p:sp>
        <p:nvSpPr>
          <p:cNvPr id="5" name="Footer Placeholder 4"/>
          <p:cNvSpPr>
            <a:spLocks noGrp="1"/>
          </p:cNvSpPr>
          <p:nvPr>
            <p:ph type="ftr" sz="quarter" idx="11"/>
          </p:nvPr>
        </p:nvSpPr>
        <p:spPr/>
        <p:txBody>
          <a:bodyPr/>
          <a:lstStyle/>
          <a:p>
            <a:pPr>
              <a:defRPr/>
            </a:pPr>
            <a:r>
              <a:rPr lang="en-US" smtClean="0"/>
              <a:t>DEPARTMENT OF CSE MINI PROJECT REVIEW-1</a:t>
            </a:r>
            <a:endParaRPr lang="en-US"/>
          </a:p>
        </p:txBody>
      </p:sp>
      <p:sp>
        <p:nvSpPr>
          <p:cNvPr id="6" name="Slide Number Placeholder 5"/>
          <p:cNvSpPr>
            <a:spLocks noGrp="1"/>
          </p:cNvSpPr>
          <p:nvPr>
            <p:ph type="sldNum" sz="quarter" idx="12"/>
          </p:nvPr>
        </p:nvSpPr>
        <p:spPr/>
        <p:txBody>
          <a:bodyPr/>
          <a:lstStyle/>
          <a:p>
            <a:fld id="{79B4311E-D5F2-40A4-B2D6-DDC2AFD86103}" type="slidenum">
              <a:rPr lang="en-US" altLang="en-US" smtClean="0"/>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06A74232-FC8A-49F8-80E8-B50A0BA80DF4}" type="datetime1">
              <a:rPr lang="en-US" smtClean="0"/>
              <a:pPr>
                <a:defRPr/>
              </a:pPr>
              <a:t>4/1/2026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smtClean="0"/>
              <a:t>DEPARTMENT OF CSE MINI PROJECT REVIEW-1</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E04AAF9-47BF-4F68-B79A-2D00C1CD1B67}" type="slidenum">
              <a:rPr lang="en-US" altLang="en-US" smtClean="0"/>
              <a:pPr/>
              <a:t>‹#›</a:t>
            </a:fld>
            <a:endParaRPr lang="en-US" alt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r>
              <a:rPr lang="en-US" sz="2400" dirty="0"/>
              <a:t/>
            </a:r>
            <a:br>
              <a:rPr lang="en-US" sz="2400" dirty="0"/>
            </a:br>
            <a:r>
              <a:rPr lang="en-US" sz="2400" b="1" dirty="0">
                <a:solidFill>
                  <a:srgbClr val="FF0000"/>
                </a:solidFill>
              </a:rPr>
              <a:t>DEPARTMENT OF COMPUTER SCIENCE &amp; ENGINEERING </a:t>
            </a:r>
            <a:r>
              <a:rPr lang="en-US" sz="2400" b="1" dirty="0"/>
              <a:t/>
            </a:r>
            <a:br>
              <a:rPr lang="en-US" sz="2400" b="1" dirty="0"/>
            </a:br>
            <a:endParaRPr lang="en-US" sz="3600" b="1" dirty="0"/>
          </a:p>
        </p:txBody>
      </p:sp>
      <p:sp>
        <p:nvSpPr>
          <p:cNvPr id="7" name="Subtitle 2">
            <a:extLst>
              <a:ext uri="{FF2B5EF4-FFF2-40B4-BE49-F238E27FC236}">
                <a16:creationId xmlns=""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err="1" smtClean="0">
                <a:solidFill>
                  <a:srgbClr val="002060"/>
                </a:solidFill>
              </a:rPr>
              <a:t>G.S.Prasada</a:t>
            </a:r>
            <a:r>
              <a:rPr lang="en-US" sz="3000" b="1" dirty="0" smtClean="0">
                <a:solidFill>
                  <a:srgbClr val="002060"/>
                </a:solidFill>
              </a:rPr>
              <a:t> Reddy</a:t>
            </a:r>
            <a:endParaRPr lang="en-US" sz="3000" b="1" dirty="0">
              <a:solidFill>
                <a:srgbClr val="002060"/>
              </a:solidFill>
              <a:cs typeface="Calibri"/>
            </a:endParaRPr>
          </a:p>
          <a:p>
            <a:pPr algn="ctr" fontAlgn="auto">
              <a:spcBef>
                <a:spcPct val="20000"/>
              </a:spcBef>
              <a:spcAft>
                <a:spcPts val="0"/>
              </a:spcAft>
              <a:defRPr/>
            </a:pPr>
            <a:r>
              <a:rPr lang="en-US" sz="2200" b="1" dirty="0" smtClean="0">
                <a:solidFill>
                  <a:srgbClr val="002060"/>
                </a:solidFill>
              </a:rPr>
              <a:t>Assistant Professor</a:t>
            </a:r>
            <a:endParaRPr lang="en-US" sz="2200" b="1" dirty="0">
              <a:solidFill>
                <a:srgbClr val="002060"/>
              </a:solidFill>
            </a:endParaRP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10" name="Title 1">
            <a:extLst>
              <a:ext uri="{FF2B5EF4-FFF2-40B4-BE49-F238E27FC236}">
                <a16:creationId xmlns=""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smtClean="0">
                <a:solidFill>
                  <a:schemeClr val="tx1"/>
                </a:solidFill>
                <a:latin typeface="+mj-lt"/>
                <a:ea typeface="+mj-ea"/>
                <a:cs typeface="+mj-cs"/>
              </a:rPr>
              <a:t>A Multi-Agent Bee Colony Algorithm for Prediction of User </a:t>
            </a:r>
            <a:r>
              <a:rPr lang="en-US" sz="2800" b="1" dirty="0" err="1" smtClean="0">
                <a:solidFill>
                  <a:schemeClr val="tx1"/>
                </a:solidFill>
                <a:latin typeface="+mj-lt"/>
                <a:ea typeface="+mj-ea"/>
                <a:cs typeface="+mj-cs"/>
              </a:rPr>
              <a:t>Behaviour</a:t>
            </a:r>
            <a:r>
              <a:rPr lang="en-US" sz="2800" b="1" dirty="0" smtClean="0">
                <a:solidFill>
                  <a:schemeClr val="tx1"/>
                </a:solidFill>
                <a:latin typeface="+mj-lt"/>
                <a:ea typeface="+mj-ea"/>
                <a:cs typeface="+mj-cs"/>
              </a:rPr>
              <a:t> on Edge Health Care Devices</a:t>
            </a:r>
            <a:endParaRPr lang="en-US" sz="2800" b="1" dirty="0">
              <a:solidFill>
                <a:schemeClr val="tx1"/>
              </a:solidFill>
              <a:latin typeface="+mj-lt"/>
              <a:ea typeface="+mj-ea"/>
              <a:cs typeface="+mj-cs"/>
            </a:endParaRPr>
          </a:p>
        </p:txBody>
      </p:sp>
      <p:graphicFrame>
        <p:nvGraphicFramePr>
          <p:cNvPr id="12" name="Table 11">
            <a:extLst>
              <a:ext uri="{FF2B5EF4-FFF2-40B4-BE49-F238E27FC236}">
                <a16:creationId xmlns="" xmlns:a16="http://schemas.microsoft.com/office/drawing/2014/main" id="{4B4BF96B-13BF-42E1-B330-96082705FEC5}"/>
              </a:ext>
            </a:extLst>
          </p:cNvPr>
          <p:cNvGraphicFramePr>
            <a:graphicFrameLocks noGrp="1"/>
          </p:cNvGraphicFramePr>
          <p:nvPr>
            <p:extLst>
              <p:ext uri="{D42A27DB-BD31-4B8C-83A1-F6EECF244321}">
                <p14:modId xmlns="" xmlns:p14="http://schemas.microsoft.com/office/powerpoint/2010/main" val="3060834980"/>
              </p:ext>
            </p:extLst>
          </p:nvPr>
        </p:nvGraphicFramePr>
        <p:xfrm>
          <a:off x="1219200" y="2971800"/>
          <a:ext cx="6934200" cy="1889760"/>
        </p:xfrm>
        <a:graphic>
          <a:graphicData uri="http://schemas.openxmlformats.org/drawingml/2006/table">
            <a:tbl>
              <a:tblPr firstRow="1" bandRow="1">
                <a:tableStyleId>{00A15C55-8517-42AA-B614-E9B94910E393}</a:tableStyleId>
              </a:tblPr>
              <a:tblGrid>
                <a:gridCol w="780098">
                  <a:extLst>
                    <a:ext uri="{9D8B030D-6E8A-4147-A177-3AD203B41FA5}">
                      <a16:colId xmlns="" xmlns:a16="http://schemas.microsoft.com/office/drawing/2014/main" val="20000"/>
                    </a:ext>
                  </a:extLst>
                </a:gridCol>
                <a:gridCol w="1839489">
                  <a:extLst>
                    <a:ext uri="{9D8B030D-6E8A-4147-A177-3AD203B41FA5}">
                      <a16:colId xmlns="" xmlns:a16="http://schemas.microsoft.com/office/drawing/2014/main" val="20001"/>
                    </a:ext>
                  </a:extLst>
                </a:gridCol>
                <a:gridCol w="4314613">
                  <a:extLst>
                    <a:ext uri="{9D8B030D-6E8A-4147-A177-3AD203B41FA5}">
                      <a16:colId xmlns="" xmlns:a16="http://schemas.microsoft.com/office/drawing/2014/main" val="20002"/>
                    </a:ext>
                  </a:extLst>
                </a:gridCol>
              </a:tblGrid>
              <a:tr h="30480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30480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23881A0590</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smtClean="0"/>
                        <a:t>K.Tejaswini</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0480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23881A0596</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smtClean="0"/>
                        <a:t>Md.Saaleha</a:t>
                      </a:r>
                      <a:r>
                        <a:rPr lang="en-US" sz="2000" b="1" dirty="0" smtClean="0"/>
                        <a:t> </a:t>
                      </a:r>
                      <a:r>
                        <a:rPr lang="en-US" sz="2000" b="1" dirty="0" err="1" smtClean="0"/>
                        <a:t>Thasleem</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0480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23881A05A4</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err="1" smtClean="0"/>
                        <a:t>N.Varun</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pic>
        <p:nvPicPr>
          <p:cNvPr id="3" name="Picture 2">
            <a:extLst>
              <a:ext uri="{FF2B5EF4-FFF2-40B4-BE49-F238E27FC236}">
                <a16:creationId xmlns="" xmlns:a16="http://schemas.microsoft.com/office/drawing/2014/main" id="{7C380515-DA03-C63F-7DAB-FBAD305F3CBB}"/>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Review-2 Outlines</a:t>
            </a:r>
          </a:p>
        </p:txBody>
      </p:sp>
      <p:sp>
        <p:nvSpPr>
          <p:cNvPr id="3" name="Content Placeholder 2">
            <a:extLst>
              <a:ext uri="{FF2B5EF4-FFF2-40B4-BE49-F238E27FC236}">
                <a16:creationId xmlns=""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Main idea of the Project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Process Model</a:t>
            </a:r>
            <a:endParaRPr lang="en-US" sz="1800" dirty="0">
              <a:ea typeface="+mn-lt"/>
              <a:cs typeface="+mn-lt"/>
            </a:endParaRPr>
          </a:p>
          <a:p>
            <a:pPr>
              <a:lnSpc>
                <a:spcPct val="110000"/>
              </a:lnSpc>
              <a:spcBef>
                <a:spcPts val="1200"/>
              </a:spcBef>
              <a:spcAft>
                <a:spcPts val="0"/>
              </a:spcAft>
              <a:defRPr/>
            </a:pPr>
            <a:r>
              <a:rPr lang="en-US" sz="1800" b="1" dirty="0">
                <a:ea typeface="+mn-lt"/>
                <a:cs typeface="+mn-lt"/>
              </a:rPr>
              <a:t>Design Phase</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Architectural Diagram [Modified]</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[UML Diagrams or Data Flow Diagrams] and ER-Diagrams ; It should be detailed diagrams</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a:t>
            </a:r>
            <a:r>
              <a:rPr lang="en-US" sz="1800" b="1" dirty="0" smtClean="0">
                <a:ea typeface="+mn-lt"/>
                <a:cs typeface="+mn-lt"/>
              </a:rPr>
              <a:t>Methods </a:t>
            </a:r>
            <a:r>
              <a:rPr lang="en-US" sz="1800" b="1" dirty="0">
                <a:ea typeface="+mn-lt"/>
                <a:cs typeface="+mn-lt"/>
              </a:rPr>
              <a:t>and Algorithms </a:t>
            </a:r>
            <a:endParaRPr lang="en-US" sz="1800" b="1" dirty="0" smtClean="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smtClean="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smtClean="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8"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a:extLst>
              <a:ext uri="{FF2B5EF4-FFF2-40B4-BE49-F238E27FC236}">
                <a16:creationId xmlns=""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 xmlns:a16="http://schemas.microsoft.com/office/drawing/2014/main" id="{1CFCE242-E21F-4D18-A237-B7CA4E6562C5}"/>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85FFB9-D3CC-44A9-9FC7-C2A67668EBD8}"/>
              </a:ext>
            </a:extLst>
          </p:cNvPr>
          <p:cNvSpPr>
            <a:spLocks noGrp="1"/>
          </p:cNvSpPr>
          <p:nvPr>
            <p:ph type="title"/>
          </p:nvPr>
        </p:nvSpPr>
        <p:spPr>
          <a:xfrm>
            <a:off x="457200" y="304800"/>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Main idea of the Project</a:t>
            </a:r>
          </a:p>
        </p:txBody>
      </p:sp>
      <p:sp>
        <p:nvSpPr>
          <p:cNvPr id="3" name="Content Placeholder 2">
            <a:extLst>
              <a:ext uri="{FF2B5EF4-FFF2-40B4-BE49-F238E27FC236}">
                <a16:creationId xmlns=""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algn="just"/>
            <a:r>
              <a:rPr lang="en-US" sz="2800" dirty="0" smtClean="0"/>
              <a:t>The main idea is to build a smarter and more private way to monitor your </a:t>
            </a:r>
            <a:r>
              <a:rPr lang="en-US" sz="2800" dirty="0" err="1" smtClean="0"/>
              <a:t>health.Most</a:t>
            </a:r>
            <a:r>
              <a:rPr lang="en-US" sz="2800" dirty="0" smtClean="0"/>
              <a:t> </a:t>
            </a:r>
            <a:r>
              <a:rPr lang="en-US" sz="2800" dirty="0" err="1" smtClean="0"/>
              <a:t>smartwatches</a:t>
            </a:r>
            <a:r>
              <a:rPr lang="en-US" sz="2800" dirty="0" smtClean="0"/>
              <a:t> send your personal data to the internet (the cloud) to be analyzed, which can be slow and risky for your privacy. This project creates a system that connects to different devices like an Apple Watch or </a:t>
            </a:r>
            <a:r>
              <a:rPr lang="en-US" sz="2800" dirty="0" err="1" smtClean="0"/>
              <a:t>Fitbit</a:t>
            </a:r>
            <a:r>
              <a:rPr lang="en-US" sz="2800" dirty="0" smtClean="0"/>
              <a:t> and processes all your health info locally on your phone or laptop. It uses a "Bee Colony" method, where small pieces of software act like a team of bees to quickly find, connect, and analyze your heart rate and stress levels in real-time. This keeps your data safe in your own hands while giving you instant health updates.</a:t>
            </a:r>
          </a:p>
          <a:p>
            <a:pPr algn="just" fontAlgn="auto">
              <a:spcAft>
                <a:spcPts val="0"/>
              </a:spcAft>
              <a:defRPr/>
            </a:pPr>
            <a:endParaRPr lang="en-US" sz="2800" dirty="0">
              <a:cs typeface="Calibri"/>
            </a:endParaRPr>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a:extLst>
              <a:ext uri="{FF2B5EF4-FFF2-40B4-BE49-F238E27FC236}">
                <a16:creationId xmlns=""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 xmlns:a16="http://schemas.microsoft.com/office/drawing/2014/main" id="{B543C64E-E448-0AE8-AC06-C25391F17222}"/>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9" name="Content Placeholder 8"/>
          <p:cNvSpPr>
            <a:spLocks noGrp="1"/>
          </p:cNvSpPr>
          <p:nvPr>
            <p:ph idx="1"/>
          </p:nvPr>
        </p:nvSpPr>
        <p:spPr/>
        <p:txBody>
          <a:bodyPr/>
          <a:lstStyle/>
          <a:p>
            <a:endParaRPr lang="en-US" dirty="0"/>
          </a:p>
        </p:txBody>
      </p:sp>
      <p:sp>
        <p:nvSpPr>
          <p:cNvPr id="7" name="Footer Placeholder 6">
            <a:extLst>
              <a:ext uri="{FF2B5EF4-FFF2-40B4-BE49-F238E27FC236}">
                <a16:creationId xmlns=""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5" name="Slide Number Placeholder 4">
            <a:extLst>
              <a:ext uri="{FF2B5EF4-FFF2-40B4-BE49-F238E27FC236}">
                <a16:creationId xmlns=""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pic>
        <p:nvPicPr>
          <p:cNvPr id="3" name="Picture 2">
            <a:extLst>
              <a:ext uri="{FF2B5EF4-FFF2-40B4-BE49-F238E27FC236}">
                <a16:creationId xmlns="" xmlns:a16="http://schemas.microsoft.com/office/drawing/2014/main" id="{03D90AE2-BDCA-9B3A-4F4B-21D4398447A8}"/>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algn="just" fontAlgn="auto">
              <a:spcAft>
                <a:spcPts val="0"/>
              </a:spcAft>
              <a:buNone/>
              <a:defRPr/>
            </a:pPr>
            <a:r>
              <a:rPr lang="en-US" sz="2800" b="1" dirty="0" smtClean="0">
                <a:cs typeface="Calibri"/>
              </a:rPr>
              <a:t>Existing </a:t>
            </a:r>
            <a:r>
              <a:rPr lang="en-US" sz="2800" b="1" dirty="0" err="1" smtClean="0">
                <a:cs typeface="Calibri"/>
              </a:rPr>
              <a:t>System</a:t>
            </a:r>
            <a:r>
              <a:rPr lang="en-US" sz="2800" dirty="0" err="1" smtClean="0">
                <a:cs typeface="Calibri"/>
              </a:rPr>
              <a:t>:</a:t>
            </a:r>
            <a:r>
              <a:rPr lang="en-US" sz="2800" dirty="0" err="1" smtClean="0"/>
              <a:t>Most</a:t>
            </a:r>
            <a:r>
              <a:rPr lang="en-US" sz="2800" dirty="0" smtClean="0"/>
              <a:t> </a:t>
            </a:r>
            <a:r>
              <a:rPr lang="en-US" sz="2800" dirty="0" smtClean="0"/>
              <a:t>current </a:t>
            </a:r>
            <a:r>
              <a:rPr lang="en-US" sz="2800" dirty="0" err="1" smtClean="0"/>
              <a:t>wearables</a:t>
            </a:r>
            <a:r>
              <a:rPr lang="en-US" sz="2800" dirty="0" smtClean="0"/>
              <a:t> rely on a centralized </a:t>
            </a:r>
            <a:r>
              <a:rPr lang="en-US" sz="2800" dirty="0" smtClean="0"/>
              <a:t>cloud architecture</a:t>
            </a:r>
            <a:r>
              <a:rPr lang="en-US" sz="2800" dirty="0" smtClean="0"/>
              <a:t>, sending sensitive health data to third-party servers for processing. This creates privacy risks, high latency, and requires a constant internet connection to function.</a:t>
            </a:r>
            <a:endParaRPr lang="en-US" sz="2800" dirty="0" smtClean="0">
              <a:cs typeface="Calibri"/>
            </a:endParaRPr>
          </a:p>
          <a:p>
            <a:pPr algn="just">
              <a:buNone/>
            </a:pPr>
            <a:r>
              <a:rPr lang="en-US" sz="2800" b="1" dirty="0" smtClean="0"/>
              <a:t>Proposed </a:t>
            </a:r>
            <a:r>
              <a:rPr lang="en-US" sz="2800" b="1" dirty="0" smtClean="0"/>
              <a:t>System</a:t>
            </a:r>
            <a:r>
              <a:rPr lang="en-US" sz="2800" dirty="0" smtClean="0"/>
              <a:t>:</a:t>
            </a:r>
          </a:p>
          <a:p>
            <a:pPr algn="just">
              <a:buNone/>
            </a:pPr>
            <a:r>
              <a:rPr lang="en-US" sz="2800" dirty="0" smtClean="0"/>
              <a:t>    </a:t>
            </a:r>
            <a:r>
              <a:rPr lang="en-US" sz="2800" dirty="0" smtClean="0"/>
              <a:t>The </a:t>
            </a:r>
            <a:r>
              <a:rPr lang="en-US" sz="2800" dirty="0" err="1" smtClean="0"/>
              <a:t>MABC</a:t>
            </a:r>
            <a:r>
              <a:rPr lang="en-US" sz="2800" dirty="0" smtClean="0"/>
              <a:t> framework uses a decentralized "swarm" of agents to process all health data locally on the user's phone or laptop. This ensures 100% data privacy, works offline, and allows different device brands to work together on one dashboard.</a:t>
            </a:r>
            <a:endParaRPr lang="en-US" sz="2800" dirty="0" smtClean="0"/>
          </a:p>
          <a:p>
            <a:pPr algn="just">
              <a:buNone/>
            </a:pPr>
            <a:endParaRPr lang="en-US" sz="2800" dirty="0" smtClean="0"/>
          </a:p>
          <a:p>
            <a:pPr fontAlgn="auto">
              <a:spcAft>
                <a:spcPts val="0"/>
              </a:spcAft>
              <a:buNone/>
              <a:defRPr/>
            </a:pPr>
            <a:endParaRPr lang="en-US" sz="2800" dirty="0" smtClean="0">
              <a:cs typeface="Calibri"/>
            </a:endParaRPr>
          </a:p>
          <a:p>
            <a:pPr fontAlgn="auto">
              <a:spcAft>
                <a:spcPts val="0"/>
              </a:spcAft>
              <a:buNone/>
              <a:defRPr/>
            </a:pPr>
            <a:endParaRPr lang="en-US" sz="2800" dirty="0"/>
          </a:p>
        </p:txBody>
      </p:sp>
      <p:sp>
        <p:nvSpPr>
          <p:cNvPr id="10" name="Footer Placeholder 6">
            <a:extLst>
              <a:ext uri="{FF2B5EF4-FFF2-40B4-BE49-F238E27FC236}">
                <a16:creationId xmlns=""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smtClean="0"/>
              <a:t>DEPARTMENT OF CSE MINI PROJECT REVIEW-4</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r>
              <a:rPr lang="en-US" sz="2800" b="1" dirty="0" smtClean="0"/>
              <a:t>To build a smart "Bee Team"</a:t>
            </a:r>
            <a:r>
              <a:rPr lang="en-US" sz="2800" dirty="0" smtClean="0"/>
              <a:t> of software agents that work together to collect health data without needing the internet.</a:t>
            </a:r>
          </a:p>
          <a:p>
            <a:r>
              <a:rPr lang="en-US" sz="2800" b="1" dirty="0" smtClean="0"/>
              <a:t>To connect different brands</a:t>
            </a:r>
            <a:r>
              <a:rPr lang="en-US" sz="2800" dirty="0" smtClean="0"/>
              <a:t> like Apple Watch and </a:t>
            </a:r>
            <a:r>
              <a:rPr lang="en-US" sz="2800" dirty="0" err="1" smtClean="0"/>
              <a:t>Fitbit</a:t>
            </a:r>
            <a:r>
              <a:rPr lang="en-US" sz="2800" dirty="0" smtClean="0"/>
              <a:t> so they can all be seen and managed in one single app.</a:t>
            </a:r>
          </a:p>
          <a:p>
            <a:r>
              <a:rPr lang="en-US" sz="2800" b="1" dirty="0" smtClean="0"/>
              <a:t>To process data instantly</a:t>
            </a:r>
            <a:r>
              <a:rPr lang="en-US" sz="2800" dirty="0" smtClean="0"/>
              <a:t> on your own phone or laptop, so you get health updates (like stress levels) without any delay.</a:t>
            </a:r>
          </a:p>
          <a:p>
            <a:r>
              <a:rPr lang="en-US" sz="2800" b="1" dirty="0" smtClean="0"/>
              <a:t>To keep your information private</a:t>
            </a:r>
            <a:r>
              <a:rPr lang="en-US" sz="2800" dirty="0" smtClean="0"/>
              <a:t> by making sure your personal health details never leave your device or go to the cloud.</a:t>
            </a:r>
          </a:p>
          <a:p>
            <a:endParaRPr lang="en-US" sz="2800" dirty="0"/>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a:extLst>
              <a:ext uri="{FF2B5EF4-FFF2-40B4-BE49-F238E27FC236}">
                <a16:creationId xmlns=""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5</a:t>
            </a:fld>
            <a:endParaRPr lang="en-US" altLang="en-US">
              <a:solidFill>
                <a:srgbClr val="898989"/>
              </a:solidFill>
            </a:endParaRPr>
          </a:p>
        </p:txBody>
      </p:sp>
      <p:pic>
        <p:nvPicPr>
          <p:cNvPr id="4" name="Picture 3">
            <a:extLst>
              <a:ext uri="{FF2B5EF4-FFF2-40B4-BE49-F238E27FC236}">
                <a16:creationId xmlns="" xmlns:a16="http://schemas.microsoft.com/office/drawing/2014/main" id="{24D567A5-0A6B-AFA0-3540-53A824978C38}"/>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10244" name="Rectangle 4"/>
          <p:cNvSpPr>
            <a:spLocks noGrp="1" noChangeArrowheads="1"/>
          </p:cNvSpPr>
          <p:nvPr>
            <p:ph idx="1"/>
          </p:nvPr>
        </p:nvSpPr>
        <p:spPr bwMode="auto">
          <a:xfrm>
            <a:off x="228601" y="1066800"/>
            <a:ext cx="8534400" cy="570965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smtClean="0"/>
              <a:t>Unified App:</a:t>
            </a:r>
            <a:r>
              <a:rPr lang="en-US" sz="2800" dirty="0" smtClean="0"/>
              <a:t> A single dashboard that lets you see health data from different watch brands (like Apple and </a:t>
            </a:r>
            <a:r>
              <a:rPr lang="en-US" sz="2800" dirty="0" err="1" smtClean="0"/>
              <a:t>Fitbit</a:t>
            </a:r>
            <a:r>
              <a:rPr lang="en-US" sz="2800" dirty="0" smtClean="0"/>
              <a:t>) all in one place.</a:t>
            </a:r>
          </a:p>
          <a:p>
            <a:r>
              <a:rPr lang="en-US" sz="2800" b="1" dirty="0" smtClean="0"/>
              <a:t>Instant Updates:</a:t>
            </a:r>
            <a:r>
              <a:rPr lang="en-US" sz="2800" dirty="0" smtClean="0"/>
              <a:t> You get real-time alerts about your stress and heart rate because the data is processed immediately on your device.</a:t>
            </a:r>
          </a:p>
          <a:p>
            <a:r>
              <a:rPr lang="en-US" sz="2800" b="1" dirty="0" smtClean="0"/>
              <a:t>Better Privacy:</a:t>
            </a:r>
            <a:r>
              <a:rPr lang="en-US" sz="2800" dirty="0" smtClean="0"/>
              <a:t> Your personal health information stays 100% on your phone or laptop and is never sent to a company’s server.</a:t>
            </a:r>
          </a:p>
          <a:p>
            <a:r>
              <a:rPr lang="en-US" sz="2800" b="1" dirty="0" smtClean="0"/>
              <a:t>Offline Working:</a:t>
            </a:r>
            <a:r>
              <a:rPr lang="en-US" sz="2800" dirty="0" smtClean="0"/>
              <a:t> The system keeps monitoring your health even if you don't have an internet connection</a:t>
            </a:r>
            <a:r>
              <a:rPr lang="en-US" sz="2800" dirty="0" smtClean="0"/>
              <a:t>.</a:t>
            </a:r>
            <a:endParaRPr lang="en-US" sz="2800" dirty="0" smtClean="0"/>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6</a:t>
            </a:fld>
            <a:endParaRPr lang="en-US"/>
          </a:p>
        </p:txBody>
      </p:sp>
      <p:pic>
        <p:nvPicPr>
          <p:cNvPr id="6" name="Picture 5">
            <a:extLst>
              <a:ext uri="{FF2B5EF4-FFF2-40B4-BE49-F238E27FC236}">
                <a16:creationId xmlns="" xmlns:a16="http://schemas.microsoft.com/office/drawing/2014/main" id="{DCE2FDDD-2424-0E7F-DD96-199FAF1E2F0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3340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fontScale="77500" lnSpcReduction="20000"/>
          </a:bodyPr>
          <a:lstStyle/>
          <a:p>
            <a:pPr>
              <a:buNone/>
            </a:pPr>
            <a:r>
              <a:rPr lang="en-US" sz="2800" b="1" dirty="0" smtClean="0"/>
              <a:t>Software Requirements</a:t>
            </a:r>
            <a:r>
              <a:rPr lang="en-US" sz="2800" dirty="0" smtClean="0"/>
              <a:t>:</a:t>
            </a:r>
          </a:p>
          <a:p>
            <a:r>
              <a:rPr lang="en-US" sz="2800" b="1" dirty="0" smtClean="0"/>
              <a:t>React.js:</a:t>
            </a:r>
            <a:r>
              <a:rPr lang="en-US" sz="2800" dirty="0" smtClean="0"/>
              <a:t> The main tool used to build the app's screens and buttons.</a:t>
            </a:r>
          </a:p>
          <a:p>
            <a:r>
              <a:rPr lang="en-US" sz="2800" b="1" dirty="0" smtClean="0"/>
              <a:t>JavaScript:</a:t>
            </a:r>
            <a:r>
              <a:rPr lang="en-US" sz="2800" dirty="0" smtClean="0"/>
              <a:t> The coding language that runs the "Bee Colony" logic.</a:t>
            </a:r>
          </a:p>
          <a:p>
            <a:r>
              <a:rPr lang="en-US" sz="2800" b="1" dirty="0" smtClean="0"/>
              <a:t>Web Bluetooth API:</a:t>
            </a:r>
            <a:r>
              <a:rPr lang="en-US" sz="2800" dirty="0" smtClean="0"/>
              <a:t> The technology that allows your browser to talk directly to your watch.</a:t>
            </a:r>
          </a:p>
          <a:p>
            <a:r>
              <a:rPr lang="en-US" sz="2800" b="1" dirty="0" smtClean="0"/>
              <a:t>Google Chrome:</a:t>
            </a:r>
            <a:r>
              <a:rPr lang="en-US" sz="2800" dirty="0" smtClean="0"/>
              <a:t> The web browser needed to run the system and handle the Bluetooth connection.</a:t>
            </a:r>
          </a:p>
          <a:p>
            <a:pPr>
              <a:buNone/>
            </a:pPr>
            <a:endParaRPr lang="en-US" sz="2800" dirty="0" smtClean="0"/>
          </a:p>
          <a:p>
            <a:pPr>
              <a:buNone/>
            </a:pPr>
            <a:r>
              <a:rPr lang="en-US" sz="2800" b="1" dirty="0" smtClean="0"/>
              <a:t>Hardware </a:t>
            </a:r>
            <a:r>
              <a:rPr lang="en-US" sz="2800" b="1" dirty="0" smtClean="0"/>
              <a:t>Requirements</a:t>
            </a:r>
            <a:r>
              <a:rPr lang="en-US" sz="2800" dirty="0" smtClean="0"/>
              <a:t>:</a:t>
            </a:r>
          </a:p>
          <a:p>
            <a:r>
              <a:rPr lang="en-US" sz="2800" b="1" dirty="0" smtClean="0"/>
              <a:t>A Computer or Smartphone:</a:t>
            </a:r>
            <a:r>
              <a:rPr lang="en-US" sz="2800" dirty="0" smtClean="0"/>
              <a:t> To run the app and process your data locally.</a:t>
            </a:r>
          </a:p>
          <a:p>
            <a:r>
              <a:rPr lang="en-US" sz="2800" b="1" dirty="0" smtClean="0"/>
              <a:t>Bluetooth:</a:t>
            </a:r>
            <a:r>
              <a:rPr lang="en-US" sz="2800" dirty="0" smtClean="0"/>
              <a:t> Your computer/phone must have Bluetooth to connect to the sensors.</a:t>
            </a:r>
          </a:p>
          <a:p>
            <a:r>
              <a:rPr lang="en-US" sz="2800" b="1" dirty="0" err="1" smtClean="0"/>
              <a:t>Smartwatches</a:t>
            </a:r>
            <a:r>
              <a:rPr lang="en-US" sz="2800" b="1" dirty="0" smtClean="0"/>
              <a:t> or Fitness Bands:</a:t>
            </a:r>
            <a:r>
              <a:rPr lang="en-US" sz="2800" dirty="0" smtClean="0"/>
              <a:t> Devices like an </a:t>
            </a:r>
            <a:r>
              <a:rPr lang="en-US" sz="2800" b="1" dirty="0" smtClean="0"/>
              <a:t>Apple Watch</a:t>
            </a:r>
            <a:r>
              <a:rPr lang="en-US" sz="2800" dirty="0" smtClean="0"/>
              <a:t>, </a:t>
            </a:r>
            <a:r>
              <a:rPr lang="en-US" sz="2800" b="1" dirty="0" err="1" smtClean="0"/>
              <a:t>Fitbit</a:t>
            </a:r>
            <a:r>
              <a:rPr lang="en-US" sz="2800" dirty="0" smtClean="0"/>
              <a:t>, or any heart rate monitor that can send data via Bluetooth.</a:t>
            </a:r>
          </a:p>
          <a:p>
            <a:r>
              <a:rPr lang="en-US" sz="2800" b="1" dirty="0" smtClean="0"/>
              <a:t>Heart Rate Sensors:</a:t>
            </a:r>
            <a:r>
              <a:rPr lang="en-US" sz="2800" dirty="0" smtClean="0"/>
              <a:t> The wearable must be able to track your pulse in real-time.</a:t>
            </a:r>
          </a:p>
          <a:p>
            <a:pPr>
              <a:buNone/>
            </a:pPr>
            <a:endParaRPr lang="en-US" sz="2800" dirty="0" smtClean="0"/>
          </a:p>
          <a:p>
            <a:pPr>
              <a:buNone/>
            </a:pPr>
            <a:endParaRPr lang="en-US" sz="2800" dirty="0"/>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7</a:t>
            </a:fld>
            <a:endParaRPr lang="en-US"/>
          </a:p>
        </p:txBody>
      </p:sp>
      <p:pic>
        <p:nvPicPr>
          <p:cNvPr id="6" name="Picture 5">
            <a:extLst>
              <a:ext uri="{FF2B5EF4-FFF2-40B4-BE49-F238E27FC236}">
                <a16:creationId xmlns="" xmlns:a16="http://schemas.microsoft.com/office/drawing/2014/main" id="{0AC52FED-457C-B8CE-592D-306D22672339}"/>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5F901D-E22F-4DE8-9432-DE53CF2D0382}"/>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Process Model</a:t>
            </a:r>
          </a:p>
        </p:txBody>
      </p:sp>
      <p:sp>
        <p:nvSpPr>
          <p:cNvPr id="8193" name="Rectangle 1"/>
          <p:cNvSpPr>
            <a:spLocks noGrp="1" noChangeArrowheads="1"/>
          </p:cNvSpPr>
          <p:nvPr>
            <p:ph idx="1"/>
          </p:nvPr>
        </p:nvSpPr>
        <p:spPr bwMode="auto">
          <a:xfrm>
            <a:off x="228600" y="990505"/>
            <a:ext cx="8382000" cy="569386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smtClean="0"/>
              <a:t>Planning:</a:t>
            </a:r>
            <a:r>
              <a:rPr lang="en-US" sz="2800" dirty="0" smtClean="0"/>
              <a:t> Deciding which watches to connect to and what health data (like heart rate) to collect.</a:t>
            </a:r>
          </a:p>
          <a:p>
            <a:r>
              <a:rPr lang="en-US" sz="2800" b="1" dirty="0" smtClean="0"/>
              <a:t>Designing the "Bee Team":</a:t>
            </a:r>
            <a:r>
              <a:rPr lang="en-US" sz="2800" dirty="0" smtClean="0"/>
              <a:t> Drawing the blueprint for how the Scout, Worker, and Boss agents will talk to each other.</a:t>
            </a:r>
          </a:p>
          <a:p>
            <a:r>
              <a:rPr lang="en-US" sz="2800" b="1" dirty="0" smtClean="0"/>
              <a:t>Building in Rounds:</a:t>
            </a:r>
            <a:r>
              <a:rPr lang="en-US" sz="2800" dirty="0" smtClean="0"/>
              <a:t> * </a:t>
            </a:r>
            <a:r>
              <a:rPr lang="en-US" sz="2800" b="1" dirty="0" smtClean="0"/>
              <a:t>Round 1:</a:t>
            </a:r>
            <a:r>
              <a:rPr lang="en-US" sz="2800" dirty="0" smtClean="0"/>
              <a:t> Get the Bluetooth working.</a:t>
            </a:r>
          </a:p>
          <a:p>
            <a:pPr>
              <a:buNone/>
            </a:pPr>
            <a:r>
              <a:rPr lang="en-US" sz="2800" b="1" dirty="0" smtClean="0"/>
              <a:t>      Round </a:t>
            </a:r>
            <a:r>
              <a:rPr lang="en-US" sz="2800" b="1" dirty="0" smtClean="0"/>
              <a:t>2:</a:t>
            </a:r>
            <a:r>
              <a:rPr lang="en-US" sz="2800" dirty="0" smtClean="0"/>
              <a:t> Add the "Bee Colony" logic.</a:t>
            </a:r>
          </a:p>
          <a:p>
            <a:pPr>
              <a:buNone/>
            </a:pPr>
            <a:r>
              <a:rPr lang="en-US" sz="2800" b="1" dirty="0" smtClean="0"/>
              <a:t>      Round </a:t>
            </a:r>
            <a:r>
              <a:rPr lang="en-US" sz="2800" b="1" dirty="0" smtClean="0"/>
              <a:t>3:</a:t>
            </a:r>
            <a:r>
              <a:rPr lang="en-US" sz="2800" dirty="0" smtClean="0"/>
              <a:t> Build the visual dashboard.</a:t>
            </a:r>
          </a:p>
          <a:p>
            <a:r>
              <a:rPr lang="en-US" sz="2800" b="1" dirty="0" smtClean="0"/>
              <a:t>Local Testing:</a:t>
            </a:r>
            <a:r>
              <a:rPr lang="en-US" sz="2800" dirty="0" smtClean="0"/>
              <a:t> Checking if the data stays private on the phone and ensuring it doesn't lag</a:t>
            </a:r>
            <a:r>
              <a:rPr lang="en-US" sz="2800" dirty="0" smtClean="0"/>
              <a:t>.</a:t>
            </a:r>
            <a:endParaRPr lang="en-US" sz="2800" dirty="0" smtClean="0"/>
          </a:p>
          <a:p>
            <a:pPr marL="0" marR="0" lvl="0" indent="0" defTabSz="914400" rtl="0" eaLnBrk="1" fontAlgn="base" latinLnBrk="0" hangingPunct="1">
              <a:lnSpc>
                <a:spcPct val="100000"/>
              </a:lnSpc>
              <a:spcBef>
                <a:spcPct val="0"/>
              </a:spcBef>
              <a:spcAft>
                <a:spcPct val="0"/>
              </a:spcAft>
              <a:buClrTx/>
              <a:buSzTx/>
              <a:buNone/>
              <a:tabLst/>
            </a:pPr>
            <a:endParaRPr kumimoji="0" lang="en-US" sz="2800" b="0" i="0" u="none" strike="noStrike" cap="none" normalizeH="0" baseline="0" dirty="0" smtClean="0">
              <a:ln>
                <a:noFill/>
              </a:ln>
              <a:solidFill>
                <a:schemeClr val="tx1"/>
              </a:solidFill>
              <a:effectLst/>
              <a:cs typeface="Arial" charset="0"/>
            </a:endParaRPr>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a:extLst>
              <a:ext uri="{FF2B5EF4-FFF2-40B4-BE49-F238E27FC236}">
                <a16:creationId xmlns="" xmlns:a16="http://schemas.microsoft.com/office/drawing/2014/main" id="{8FA3DC3E-817D-4934-A8A3-9B35012B69C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F14D1DE-E57B-4FC7-9D83-AB1C4CB583B1}" type="slidenum">
              <a:rPr lang="en-US" altLang="en-US">
                <a:solidFill>
                  <a:srgbClr val="898989"/>
                </a:solidFill>
              </a:rPr>
              <a:pPr/>
              <a:t>8</a:t>
            </a:fld>
            <a:endParaRPr lang="en-US" altLang="en-US">
              <a:solidFill>
                <a:srgbClr val="898989"/>
              </a:solidFill>
            </a:endParaRPr>
          </a:p>
        </p:txBody>
      </p:sp>
      <p:pic>
        <p:nvPicPr>
          <p:cNvPr id="4" name="Picture 3">
            <a:extLst>
              <a:ext uri="{FF2B5EF4-FFF2-40B4-BE49-F238E27FC236}">
                <a16:creationId xmlns="" xmlns:a16="http://schemas.microsoft.com/office/drawing/2014/main" id="{4B359326-8E95-426A-1865-46915AD87E61}"/>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95" y="-4774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34" name="Content Placeholder 33"/>
          <p:cNvSpPr>
            <a:spLocks noGrp="1"/>
          </p:cNvSpPr>
          <p:nvPr>
            <p:ph idx="1"/>
          </p:nvPr>
        </p:nvSpPr>
        <p:spPr/>
        <p:txBody>
          <a:bodyPr/>
          <a:lstStyle/>
          <a:p>
            <a:endParaRPr lang="en-US"/>
          </a:p>
        </p:txBody>
      </p:sp>
      <p:sp>
        <p:nvSpPr>
          <p:cNvPr id="8"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9</a:t>
            </a:fld>
            <a:endParaRPr lang="en-US"/>
          </a:p>
        </p:txBody>
      </p:sp>
      <p:pic>
        <p:nvPicPr>
          <p:cNvPr id="3" name="Picture 2">
            <a:extLst>
              <a:ext uri="{FF2B5EF4-FFF2-40B4-BE49-F238E27FC236}">
                <a16:creationId xmlns="" xmlns:a16="http://schemas.microsoft.com/office/drawing/2014/main" id="{6A6DD126-8543-7714-EE4A-27D656E67089}"/>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pic>
        <p:nvPicPr>
          <p:cNvPr id="1026" name="Picture 2"/>
          <p:cNvPicPr>
            <a:picLocks noChangeAspect="1" noChangeArrowheads="1"/>
          </p:cNvPicPr>
          <p:nvPr/>
        </p:nvPicPr>
        <p:blipFill>
          <a:blip r:embed="rId3" cstate="print"/>
          <a:srcRect/>
          <a:stretch>
            <a:fillRect/>
          </a:stretch>
        </p:blipFill>
        <p:spPr bwMode="auto">
          <a:xfrm>
            <a:off x="609600" y="1295400"/>
            <a:ext cx="8077200" cy="5029200"/>
          </a:xfrm>
          <a:prstGeom prst="rect">
            <a:avLst/>
          </a:prstGeom>
          <a:noFill/>
          <a:ln w="9525">
            <a:noFill/>
            <a:miter lim="800000"/>
            <a:headEnd/>
            <a:tailEnd/>
          </a:ln>
          <a:effec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fontScale="90000"/>
          </a:bodyPr>
          <a:lstStyle/>
          <a:p>
            <a:r>
              <a:rPr lang="en-US" sz="3200" b="1" dirty="0">
                <a:solidFill>
                  <a:srgbClr val="C00000"/>
                </a:solidFill>
                <a:cs typeface="Calibri"/>
              </a:rPr>
              <a:t>PROPOSED METHOD AND ALGORITHMS</a:t>
            </a:r>
          </a:p>
        </p:txBody>
      </p:sp>
      <p:sp>
        <p:nvSpPr>
          <p:cNvPr id="8" name="Content Placeholder 7"/>
          <p:cNvSpPr>
            <a:spLocks noGrp="1"/>
          </p:cNvSpPr>
          <p:nvPr>
            <p:ph idx="1"/>
          </p:nvPr>
        </p:nvSpPr>
        <p:spPr>
          <a:xfrm>
            <a:off x="457200" y="914400"/>
            <a:ext cx="8229600" cy="5211763"/>
          </a:xfrm>
        </p:spPr>
        <p:txBody>
          <a:bodyPr>
            <a:normAutofit/>
          </a:bodyPr>
          <a:lstStyle/>
          <a:p>
            <a:pPr algn="just"/>
            <a:r>
              <a:rPr lang="en-US" dirty="0" smtClean="0"/>
              <a:t>The Multi-Agent Bee Colony (</a:t>
            </a:r>
            <a:r>
              <a:rPr lang="en-US" dirty="0" err="1" smtClean="0"/>
              <a:t>MABC</a:t>
            </a:r>
            <a:r>
              <a:rPr lang="en-US" dirty="0" smtClean="0"/>
              <a:t>) method uses a team of "software bees" to manage your health data locally. Scout Agents find your watch via Bluetooth, Employed Agents collect real-time heart rate data, and Onlooker Agents analyze that data to predict stress levels. The system uses a Fitness Function to mathematically check if your heart rate is normal or irregular. This entire process happens on your device (the "edge") instead of a cloud server to ensure instant results and total privacy.</a:t>
            </a:r>
            <a:endParaRPr lang="en-US" dirty="0"/>
          </a:p>
        </p:txBody>
      </p:sp>
      <p:sp>
        <p:nvSpPr>
          <p:cNvPr id="7"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10</a:t>
            </a:fld>
            <a:endParaRPr lang="en-US"/>
          </a:p>
        </p:txBody>
      </p:sp>
      <p:pic>
        <p:nvPicPr>
          <p:cNvPr id="3" name="Picture 2">
            <a:extLst>
              <a:ext uri="{FF2B5EF4-FFF2-40B4-BE49-F238E27FC236}">
                <a16:creationId xmlns="" xmlns:a16="http://schemas.microsoft.com/office/drawing/2014/main" id="{78511E57-5637-4D94-05DC-943799E81DC8}"/>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extLst>
      <p:ext uri="{BB962C8B-B14F-4D97-AF65-F5344CB8AC3E}">
        <p14:creationId xmlns="" xmlns:p14="http://schemas.microsoft.com/office/powerpoint/2010/main" val="7596224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smtClean="0">
                <a:solidFill>
                  <a:srgbClr val="C00000"/>
                </a:solidFill>
                <a:cs typeface="Calibri"/>
              </a:rPr>
              <a:t>Results</a:t>
            </a:r>
            <a:endParaRPr lang="en-US" sz="3200" b="1" dirty="0">
              <a:solidFill>
                <a:srgbClr val="C00000"/>
              </a:solidFill>
              <a:cs typeface="Calibri"/>
            </a:endParaRPr>
          </a:p>
        </p:txBody>
      </p:sp>
      <p:sp>
        <p:nvSpPr>
          <p:cNvPr id="8" name="Content Placeholder 7"/>
          <p:cNvSpPr>
            <a:spLocks noGrp="1"/>
          </p:cNvSpPr>
          <p:nvPr>
            <p:ph idx="1"/>
          </p:nvPr>
        </p:nvSpPr>
        <p:spPr>
          <a:xfrm>
            <a:off x="457200" y="1066800"/>
            <a:ext cx="8229600" cy="5059363"/>
          </a:xfrm>
        </p:spPr>
        <p:txBody>
          <a:bodyPr/>
          <a:lstStyle/>
          <a:p>
            <a:pPr algn="just"/>
            <a:r>
              <a:rPr lang="en-US" dirty="0" smtClean="0"/>
              <a:t>The results show that the app successfully connects to different </a:t>
            </a:r>
            <a:r>
              <a:rPr lang="en-US" dirty="0" err="1" smtClean="0"/>
              <a:t>smartwatches</a:t>
            </a:r>
            <a:r>
              <a:rPr lang="en-US" dirty="0" smtClean="0"/>
              <a:t> like Apple Watch and </a:t>
            </a:r>
            <a:r>
              <a:rPr lang="en-US" dirty="0" err="1" smtClean="0"/>
              <a:t>Fitbit</a:t>
            </a:r>
            <a:r>
              <a:rPr lang="en-US" dirty="0" smtClean="0"/>
              <a:t> using a single dashboard. By using the </a:t>
            </a:r>
            <a:r>
              <a:rPr lang="en-US" b="1" dirty="0" smtClean="0"/>
              <a:t>Bee Colony</a:t>
            </a:r>
            <a:r>
              <a:rPr lang="en-US" dirty="0" smtClean="0"/>
              <a:t> method, the system can handle health data (like heart rate) very quickly and privately on your phone without needing the cloud. The final tests proved that the "agents" in the app can accurately track your stress levels and health status in real-time. This means the project successfully created a faster, more private way to monitor health across different types of wearable devices.</a:t>
            </a:r>
            <a:endParaRPr lang="en-US" dirty="0"/>
          </a:p>
        </p:txBody>
      </p:sp>
      <p:sp>
        <p:nvSpPr>
          <p:cNvPr id="4"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pic>
        <p:nvPicPr>
          <p:cNvPr id="3" name="Picture 2">
            <a:extLst>
              <a:ext uri="{FF2B5EF4-FFF2-40B4-BE49-F238E27FC236}">
                <a16:creationId xmlns="" xmlns:a16="http://schemas.microsoft.com/office/drawing/2014/main" id="{78511E57-5637-4D94-05DC-943799E81DC8}"/>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extLst>
      <p:ext uri="{BB962C8B-B14F-4D97-AF65-F5344CB8AC3E}">
        <p14:creationId xmlns="" xmlns:p14="http://schemas.microsoft.com/office/powerpoint/2010/main" val="23306622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Outputs</a:t>
            </a:r>
            <a:endParaRPr lang="en-US" dirty="0">
              <a:solidFill>
                <a:srgbClr val="FF0000"/>
              </a:solidFill>
            </a:endParaRPr>
          </a:p>
        </p:txBody>
      </p:sp>
      <p:pic>
        <p:nvPicPr>
          <p:cNvPr id="6" name="Content Placeholder 5" descr="Screenshot 2026-04-01 172311.png"/>
          <p:cNvPicPr>
            <a:picLocks noGrp="1" noChangeAspect="1"/>
          </p:cNvPicPr>
          <p:nvPr>
            <p:ph idx="1"/>
          </p:nvPr>
        </p:nvPicPr>
        <p:blipFill>
          <a:blip r:embed="rId2" cstate="print"/>
          <a:stretch>
            <a:fillRect/>
          </a:stretch>
        </p:blipFill>
        <p:spPr>
          <a:xfrm>
            <a:off x="1295400" y="1981200"/>
            <a:ext cx="3352800" cy="1869745"/>
          </a:xfrm>
        </p:spPr>
      </p:pic>
      <p:sp>
        <p:nvSpPr>
          <p:cNvPr id="4" name="Footer Placeholder 3"/>
          <p:cNvSpPr>
            <a:spLocks noGrp="1"/>
          </p:cNvSpPr>
          <p:nvPr>
            <p:ph type="ftr" sz="quarter" idx="11"/>
          </p:nvPr>
        </p:nvSpPr>
        <p:spPr/>
        <p:txBody>
          <a:bodyPr/>
          <a:lstStyle/>
          <a:p>
            <a:pPr>
              <a:defRPr/>
            </a:pPr>
            <a:r>
              <a:rPr lang="en-US" smtClean="0"/>
              <a:t>DEPARTMENT OF CSE MINI PROJECT REVIEW-1</a:t>
            </a:r>
            <a:endParaRPr lang="en-US"/>
          </a:p>
        </p:txBody>
      </p:sp>
      <p:sp>
        <p:nvSpPr>
          <p:cNvPr id="5" name="Slide Number Placeholder 4"/>
          <p:cNvSpPr>
            <a:spLocks noGrp="1"/>
          </p:cNvSpPr>
          <p:nvPr>
            <p:ph type="sldNum" sz="quarter" idx="12"/>
          </p:nvPr>
        </p:nvSpPr>
        <p:spPr/>
        <p:txBody>
          <a:bodyPr/>
          <a:lstStyle/>
          <a:p>
            <a:fld id="{E021BEF2-95F5-417E-9097-980329164CCD}" type="slidenum">
              <a:rPr lang="en-US" altLang="en-US" smtClean="0"/>
              <a:pPr/>
              <a:t>12</a:t>
            </a:fld>
            <a:endParaRPr lang="en-US" altLang="en-US"/>
          </a:p>
        </p:txBody>
      </p:sp>
      <p:pic>
        <p:nvPicPr>
          <p:cNvPr id="7" name="Picture 6" descr="Screenshot 2026-04-01 172330.png"/>
          <p:cNvPicPr>
            <a:picLocks noChangeAspect="1"/>
          </p:cNvPicPr>
          <p:nvPr/>
        </p:nvPicPr>
        <p:blipFill>
          <a:blip r:embed="rId3" cstate="print"/>
          <a:stretch>
            <a:fillRect/>
          </a:stretch>
        </p:blipFill>
        <p:spPr>
          <a:xfrm>
            <a:off x="1371600" y="3962399"/>
            <a:ext cx="3276600" cy="2042753"/>
          </a:xfrm>
          <a:prstGeom prst="rect">
            <a:avLst/>
          </a:prstGeom>
        </p:spPr>
      </p:pic>
      <p:pic>
        <p:nvPicPr>
          <p:cNvPr id="8" name="Picture 7" descr="Screenshot 2026-04-01 172429.png"/>
          <p:cNvPicPr>
            <a:picLocks noChangeAspect="1"/>
          </p:cNvPicPr>
          <p:nvPr/>
        </p:nvPicPr>
        <p:blipFill>
          <a:blip r:embed="rId4" cstate="print"/>
          <a:stretch>
            <a:fillRect/>
          </a:stretch>
        </p:blipFill>
        <p:spPr>
          <a:xfrm>
            <a:off x="5029200" y="1981200"/>
            <a:ext cx="3733800" cy="1828800"/>
          </a:xfrm>
          <a:prstGeom prst="rect">
            <a:avLst/>
          </a:prstGeom>
        </p:spPr>
      </p:pic>
      <p:pic>
        <p:nvPicPr>
          <p:cNvPr id="9" name="Picture 8" descr="Screenshot 2026-04-01 172447.png"/>
          <p:cNvPicPr>
            <a:picLocks noChangeAspect="1"/>
          </p:cNvPicPr>
          <p:nvPr/>
        </p:nvPicPr>
        <p:blipFill>
          <a:blip r:embed="rId5" cstate="print"/>
          <a:stretch>
            <a:fillRect/>
          </a:stretch>
        </p:blipFill>
        <p:spPr>
          <a:xfrm>
            <a:off x="5105400" y="4114800"/>
            <a:ext cx="3657600" cy="1867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smtClean="0">
                <a:solidFill>
                  <a:srgbClr val="C00000"/>
                </a:solidFill>
                <a:cs typeface="Calibri"/>
              </a:rPr>
              <a:t>Conclusion</a:t>
            </a:r>
            <a:endParaRPr lang="en-US" sz="3200" b="1" dirty="0">
              <a:solidFill>
                <a:srgbClr val="C00000"/>
              </a:solidFill>
              <a:cs typeface="Calibri"/>
            </a:endParaRPr>
          </a:p>
        </p:txBody>
      </p:sp>
      <p:sp>
        <p:nvSpPr>
          <p:cNvPr id="8" name="Content Placeholder 7"/>
          <p:cNvSpPr>
            <a:spLocks noGrp="1"/>
          </p:cNvSpPr>
          <p:nvPr>
            <p:ph idx="1"/>
          </p:nvPr>
        </p:nvSpPr>
        <p:spPr>
          <a:xfrm>
            <a:off x="457200" y="1143000"/>
            <a:ext cx="8229600" cy="4983163"/>
          </a:xfrm>
        </p:spPr>
        <p:txBody>
          <a:bodyPr/>
          <a:lstStyle/>
          <a:p>
            <a:pPr algn="just"/>
            <a:r>
              <a:rPr lang="en-US" sz="2800" dirty="0" smtClean="0"/>
              <a:t>The proposed system successfully uses a multi-agent bee colony model for real-time user </a:t>
            </a:r>
            <a:r>
              <a:rPr lang="en-US" sz="2800" dirty="0" err="1" smtClean="0"/>
              <a:t>behaviour</a:t>
            </a:r>
            <a:r>
              <a:rPr lang="en-US" sz="2800" dirty="0" smtClean="0"/>
              <a:t> prediction in edge healthcare. It improves prediction accuracy and reduces latency compared to traditional systems. The use of edge computing ensures faster processing and better data privacy. The system can adapt to dynamic user </a:t>
            </a:r>
            <a:r>
              <a:rPr lang="en-US" sz="2800" dirty="0" err="1" smtClean="0"/>
              <a:t>behaviour</a:t>
            </a:r>
            <a:r>
              <a:rPr lang="en-US" sz="2800" dirty="0" smtClean="0"/>
              <a:t> effectively. Overall, it provides a reliable and efficient solution for healthcare monitoring. It is suitable for real-time and practical healthcare applications</a:t>
            </a:r>
            <a:r>
              <a:rPr lang="en-US" dirty="0" smtClean="0"/>
              <a:t>.</a:t>
            </a:r>
            <a:endParaRPr lang="en-US" dirty="0"/>
          </a:p>
        </p:txBody>
      </p:sp>
      <p:sp>
        <p:nvSpPr>
          <p:cNvPr id="4"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pic>
        <p:nvPicPr>
          <p:cNvPr id="3" name="Picture 2">
            <a:extLst>
              <a:ext uri="{FF2B5EF4-FFF2-40B4-BE49-F238E27FC236}">
                <a16:creationId xmlns="" xmlns:a16="http://schemas.microsoft.com/office/drawing/2014/main" id="{78511E57-5637-4D94-05DC-943799E81DC8}"/>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959090" y="182880"/>
            <a:ext cx="956310" cy="731520"/>
          </a:xfrm>
          <a:prstGeom prst="rect">
            <a:avLst/>
          </a:prstGeom>
        </p:spPr>
      </p:pic>
    </p:spTree>
    <p:extLst>
      <p:ext uri="{BB962C8B-B14F-4D97-AF65-F5344CB8AC3E}">
        <p14:creationId xmlns="" xmlns:p14="http://schemas.microsoft.com/office/powerpoint/2010/main" val="34456929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FF0000"/>
                </a:solidFill>
              </a:rPr>
              <a:t>FutureScope</a:t>
            </a:r>
            <a:endParaRPr lang="en-US" dirty="0">
              <a:solidFill>
                <a:srgbClr val="FF0000"/>
              </a:solidFill>
            </a:endParaRPr>
          </a:p>
        </p:txBody>
      </p:sp>
      <p:sp>
        <p:nvSpPr>
          <p:cNvPr id="3" name="Content Placeholder 2"/>
          <p:cNvSpPr>
            <a:spLocks noGrp="1"/>
          </p:cNvSpPr>
          <p:nvPr>
            <p:ph idx="1"/>
          </p:nvPr>
        </p:nvSpPr>
        <p:spPr/>
        <p:txBody>
          <a:bodyPr>
            <a:normAutofit lnSpcReduction="10000"/>
          </a:bodyPr>
          <a:lstStyle/>
          <a:p>
            <a:pPr algn="just"/>
            <a:r>
              <a:rPr lang="en-US" dirty="0" smtClean="0"/>
              <a:t>The future scope of this project focuses on making the system smarter and more professional. It will involve adding Advanced AI to predict illnesses before they happen and expanding to support Medical-Grade devices like glucose monitors. We also plan to use Community Swarming, where different users' apps can alert each other about local health trends (like a flu outbreak) without sharing private names. Finally, the system will use </a:t>
            </a:r>
            <a:r>
              <a:rPr lang="en-US" dirty="0" err="1" smtClean="0"/>
              <a:t>Blockchain</a:t>
            </a:r>
            <a:r>
              <a:rPr lang="en-US" dirty="0" smtClean="0"/>
              <a:t> to create secure, unchangeable health records that can be safely shared with doctors.</a:t>
            </a:r>
            <a:endParaRPr lang="en-US" dirty="0"/>
          </a:p>
        </p:txBody>
      </p:sp>
      <p:sp>
        <p:nvSpPr>
          <p:cNvPr id="4" name="Footer Placeholder 3"/>
          <p:cNvSpPr>
            <a:spLocks noGrp="1"/>
          </p:cNvSpPr>
          <p:nvPr>
            <p:ph type="ftr" sz="quarter" idx="11"/>
          </p:nvPr>
        </p:nvSpPr>
        <p:spPr/>
        <p:txBody>
          <a:bodyPr/>
          <a:lstStyle/>
          <a:p>
            <a:pPr>
              <a:defRPr/>
            </a:pPr>
            <a:r>
              <a:rPr lang="en-US" smtClean="0"/>
              <a:t>DEPARTMENT OF CSE MINI PROJECT REVIEW-1</a:t>
            </a:r>
            <a:endParaRPr lang="en-US"/>
          </a:p>
        </p:txBody>
      </p:sp>
      <p:sp>
        <p:nvSpPr>
          <p:cNvPr id="5" name="Slide Number Placeholder 4"/>
          <p:cNvSpPr>
            <a:spLocks noGrp="1"/>
          </p:cNvSpPr>
          <p:nvPr>
            <p:ph type="sldNum" sz="quarter" idx="12"/>
          </p:nvPr>
        </p:nvSpPr>
        <p:spPr/>
        <p:txBody>
          <a:bodyPr/>
          <a:lstStyle/>
          <a:p>
            <a:fld id="{E021BEF2-95F5-417E-9097-980329164CCD}"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References</a:t>
            </a:r>
            <a:endParaRPr lang="en-US" dirty="0">
              <a:solidFill>
                <a:srgbClr val="FF0000"/>
              </a:solidFill>
            </a:endParaRPr>
          </a:p>
        </p:txBody>
      </p:sp>
      <p:sp>
        <p:nvSpPr>
          <p:cNvPr id="3" name="Content Placeholder 2"/>
          <p:cNvSpPr>
            <a:spLocks noGrp="1"/>
          </p:cNvSpPr>
          <p:nvPr>
            <p:ph idx="1"/>
          </p:nvPr>
        </p:nvSpPr>
        <p:spPr/>
        <p:txBody>
          <a:bodyPr>
            <a:normAutofit lnSpcReduction="10000"/>
          </a:bodyPr>
          <a:lstStyle/>
          <a:p>
            <a:pPr algn="just">
              <a:buNone/>
            </a:pPr>
            <a:r>
              <a:rPr lang="en-US" dirty="0" smtClean="0"/>
              <a:t>   The </a:t>
            </a:r>
            <a:r>
              <a:rPr lang="en-US" dirty="0" smtClean="0"/>
              <a:t>project is supported by the foundational work of </a:t>
            </a:r>
            <a:r>
              <a:rPr lang="en-US" dirty="0" err="1" smtClean="0"/>
              <a:t>Karaboga</a:t>
            </a:r>
            <a:r>
              <a:rPr lang="en-US" dirty="0" smtClean="0"/>
              <a:t> &amp; </a:t>
            </a:r>
            <a:r>
              <a:rPr lang="en-US" dirty="0" err="1" smtClean="0"/>
              <a:t>Basturk</a:t>
            </a:r>
            <a:r>
              <a:rPr lang="en-US" dirty="0" smtClean="0"/>
              <a:t> (2007) on Artificial Bee Colony optimization and M. Wooldridge (2009) on Multi-Agent Systems. Technical implementation aligns with IEEE 11073 standards for health device communication and M.A. </a:t>
            </a:r>
            <a:r>
              <a:rPr lang="en-US" dirty="0" err="1" smtClean="0"/>
              <a:t>Ferrag’s</a:t>
            </a:r>
            <a:r>
              <a:rPr lang="en-US" dirty="0" smtClean="0"/>
              <a:t> (2018) research on wearable data privacy. Industry-specific data is derived from official Apple </a:t>
            </a:r>
            <a:r>
              <a:rPr lang="en-US" dirty="0" err="1" smtClean="0"/>
              <a:t>HealthKit</a:t>
            </a:r>
            <a:r>
              <a:rPr lang="en-US" dirty="0" smtClean="0"/>
              <a:t> and </a:t>
            </a:r>
            <a:r>
              <a:rPr lang="en-US" dirty="0" err="1" smtClean="0"/>
              <a:t>Fitbit</a:t>
            </a:r>
            <a:r>
              <a:rPr lang="en-US" dirty="0" smtClean="0"/>
              <a:t> API documentation to ensure cross-platform compatibility. Finally, the framework follows World Health Organization (2020) guidelines to maintain ethical and professional digital health standards.</a:t>
            </a:r>
            <a:endParaRPr lang="en-US" dirty="0"/>
          </a:p>
        </p:txBody>
      </p:sp>
      <p:sp>
        <p:nvSpPr>
          <p:cNvPr id="4" name="Footer Placeholder 3"/>
          <p:cNvSpPr>
            <a:spLocks noGrp="1"/>
          </p:cNvSpPr>
          <p:nvPr>
            <p:ph type="ftr" sz="quarter" idx="11"/>
          </p:nvPr>
        </p:nvSpPr>
        <p:spPr/>
        <p:txBody>
          <a:bodyPr/>
          <a:lstStyle/>
          <a:p>
            <a:pPr>
              <a:defRPr/>
            </a:pPr>
            <a:r>
              <a:rPr lang="en-US" smtClean="0"/>
              <a:t>DEPARTMENT OF CSE MINI PROJECT REVIEW-1</a:t>
            </a:r>
            <a:endParaRPr lang="en-US"/>
          </a:p>
        </p:txBody>
      </p:sp>
      <p:sp>
        <p:nvSpPr>
          <p:cNvPr id="5" name="Slide Number Placeholder 4"/>
          <p:cNvSpPr>
            <a:spLocks noGrp="1"/>
          </p:cNvSpPr>
          <p:nvPr>
            <p:ph type="sldNum" sz="quarter" idx="12"/>
          </p:nvPr>
        </p:nvSpPr>
        <p:spPr/>
        <p:txBody>
          <a:bodyPr/>
          <a:lstStyle/>
          <a:p>
            <a:fld id="{E021BEF2-95F5-417E-9097-980329164CCD}"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6" name="Footer Placeholder 6">
            <a:extLst>
              <a:ext uri="{FF2B5EF4-FFF2-40B4-BE49-F238E27FC236}">
                <a16:creationId xmlns=""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a:t>
            </a:r>
            <a:r>
              <a:rPr lang="en-US" dirty="0" smtClean="0"/>
              <a:t>REVIEW-4</a:t>
            </a:r>
            <a:endParaRPr lang="en-US" dirty="0"/>
          </a:p>
        </p:txBody>
      </p:sp>
      <p:sp>
        <p:nvSpPr>
          <p:cNvPr id="5" name="Slide Number Placeholder 4">
            <a:extLst>
              <a:ext uri="{FF2B5EF4-FFF2-40B4-BE49-F238E27FC236}">
                <a16:creationId xmlns=""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16</a:t>
            </a:fld>
            <a:endParaRPr lang="en-US" altLang="en-US" dirty="0">
              <a:solidFill>
                <a:srgbClr val="898989"/>
              </a:solidFill>
            </a:endParaRPr>
          </a:p>
        </p:txBody>
      </p:sp>
      <p:pic>
        <p:nvPicPr>
          <p:cNvPr id="2" name="Picture 1">
            <a:extLst>
              <a:ext uri="{FF2B5EF4-FFF2-40B4-BE49-F238E27FC236}">
                <a16:creationId xmlns="" xmlns:a16="http://schemas.microsoft.com/office/drawing/2014/main" id="{11BAED27-1BF6-0E39-B7FC-495FE68C4CBF}"/>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4131945" y="136525"/>
            <a:ext cx="956310" cy="73152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2725</TotalTime>
  <Words>1286</Words>
  <Application>Microsoft Office PowerPoint</Application>
  <PresentationFormat>On-screen Show (4:3)</PresentationFormat>
  <Paragraphs>120</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Flow</vt:lpstr>
      <vt:lpstr>    DEPARTMENT OF COMPUTER SCIENCE &amp; ENGINEERING  </vt:lpstr>
      <vt:lpstr>Mini Project Review-2 Outlines</vt:lpstr>
      <vt:lpstr>Main idea of the Project</vt:lpstr>
      <vt:lpstr>Existing System Vs Proposed </vt:lpstr>
      <vt:lpstr>Proposed Project Objectives</vt:lpstr>
      <vt:lpstr>Proposed Project Outcomes</vt:lpstr>
      <vt:lpstr>Software and Hardware Requirements</vt:lpstr>
      <vt:lpstr>Process Model</vt:lpstr>
      <vt:lpstr>Architectural Diagram</vt:lpstr>
      <vt:lpstr>PROPOSED METHOD AND ALGORITHMS</vt:lpstr>
      <vt:lpstr>Results</vt:lpstr>
      <vt:lpstr>Outputs</vt:lpstr>
      <vt:lpstr>Conclusion</vt:lpstr>
      <vt:lpstr>FutureScope</vt:lpstr>
      <vt:lpstr>References</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lenovo</cp:lastModifiedBy>
  <cp:revision>531</cp:revision>
  <dcterms:created xsi:type="dcterms:W3CDTF">2006-08-16T00:00:00Z</dcterms:created>
  <dcterms:modified xsi:type="dcterms:W3CDTF">2026-04-01T17:06:02Z</dcterms:modified>
</cp:coreProperties>
</file>